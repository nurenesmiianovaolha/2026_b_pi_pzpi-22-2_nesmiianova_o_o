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oxima Nova Bold" charset="1" panose="02000506030000020004"/>
      <p:regular r:id="rId18"/>
    </p:embeddedFont>
    <p:embeddedFont>
      <p:font typeface="Proxima Nova" charset="1" panose="0200050603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15458" y="4330878"/>
            <a:ext cx="8457083" cy="140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b="true" sz="540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КВАЛІФІКАЦІЙНА РОБОТА БАКАЛАВРА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450595" y="8100474"/>
            <a:ext cx="8922274" cy="6456482"/>
          </a:xfrm>
          <a:custGeom>
            <a:avLst/>
            <a:gdLst/>
            <a:ahLst/>
            <a:cxnLst/>
            <a:rect r="r" b="b" t="t" l="l"/>
            <a:pathLst>
              <a:path h="6456482" w="8922274">
                <a:moveTo>
                  <a:pt x="0" y="0"/>
                </a:moveTo>
                <a:lnTo>
                  <a:pt x="8922274" y="0"/>
                </a:lnTo>
                <a:lnTo>
                  <a:pt x="8922274" y="6456482"/>
                </a:lnTo>
                <a:lnTo>
                  <a:pt x="0" y="6456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" id="4"/>
          <p:cNvSpPr/>
          <p:nvPr/>
        </p:nvSpPr>
        <p:spPr>
          <a:xfrm>
            <a:off x="3825493" y="5749181"/>
            <a:ext cx="1063701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140590" y="-3147410"/>
            <a:ext cx="6294819" cy="6294819"/>
          </a:xfrm>
          <a:custGeom>
            <a:avLst/>
            <a:gdLst/>
            <a:ahLst/>
            <a:cxnLst/>
            <a:rect r="r" b="b" t="t" l="l"/>
            <a:pathLst>
              <a:path h="6294819" w="6294819">
                <a:moveTo>
                  <a:pt x="0" y="0"/>
                </a:moveTo>
                <a:lnTo>
                  <a:pt x="6294820" y="0"/>
                </a:lnTo>
                <a:lnTo>
                  <a:pt x="6294820" y="6294820"/>
                </a:lnTo>
                <a:lnTo>
                  <a:pt x="0" y="6294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39968"/>
            <a:ext cx="4929158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Виконала: </a:t>
            </a:r>
          </a:p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Ст. гр. ПЗПІ-22-2</a:t>
            </a:r>
          </a:p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Несміянова Ольга Олекснадрівна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542" y="1263472"/>
            <a:ext cx="2484104" cy="3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true">
                <a:solidFill>
                  <a:srgbClr val="0B132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NURE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058684"/>
            <a:ext cx="719290" cy="719290"/>
          </a:xfrm>
          <a:custGeom>
            <a:avLst/>
            <a:gdLst/>
            <a:ahLst/>
            <a:cxnLst/>
            <a:rect r="r" b="b" t="t" l="l"/>
            <a:pathLst>
              <a:path h="719290" w="719290">
                <a:moveTo>
                  <a:pt x="0" y="0"/>
                </a:moveTo>
                <a:lnTo>
                  <a:pt x="719290" y="0"/>
                </a:lnTo>
                <a:lnTo>
                  <a:pt x="719290" y="719290"/>
                </a:lnTo>
                <a:lnTo>
                  <a:pt x="0" y="7192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88458" y="390029"/>
            <a:ext cx="8311083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Міністерство освіти і науки </a:t>
            </a: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України</a:t>
            </a:r>
          </a:p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Харківський національний університет радіоелектроніки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23347" y="8256270"/>
            <a:ext cx="4935953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Науковий керівник</a:t>
            </a:r>
          </a:p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Доцент</a:t>
            </a:r>
          </a:p>
          <a:p>
            <a:pPr algn="l">
              <a:lnSpc>
                <a:spcPts val="2639"/>
              </a:lnSpc>
            </a:pPr>
            <a:r>
              <a:rPr lang="en-US" sz="2399">
                <a:solidFill>
                  <a:srgbClr val="0B1320"/>
                </a:solidFill>
                <a:latin typeface="Proxima Nova"/>
                <a:ea typeface="Proxima Nova"/>
                <a:cs typeface="Proxima Nova"/>
                <a:sym typeface="Proxima Nova"/>
              </a:rPr>
              <a:t>Ворочек Ольга Григорівна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96098" y="6553876"/>
            <a:ext cx="8695804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Програмна система управління проєктами . Бекенд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57559" y="1524610"/>
            <a:ext cx="6309996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Мета роботи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769522" y="-2726980"/>
            <a:ext cx="9112898" cy="6710407"/>
          </a:xfrm>
          <a:custGeom>
            <a:avLst/>
            <a:gdLst/>
            <a:ahLst/>
            <a:cxnLst/>
            <a:rect r="r" b="b" t="t" l="l"/>
            <a:pathLst>
              <a:path h="6710407" w="9112898">
                <a:moveTo>
                  <a:pt x="0" y="0"/>
                </a:moveTo>
                <a:lnTo>
                  <a:pt x="9112898" y="0"/>
                </a:lnTo>
                <a:lnTo>
                  <a:pt x="9112898" y="6710407"/>
                </a:lnTo>
                <a:lnTo>
                  <a:pt x="0" y="671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49338" y="5485448"/>
            <a:ext cx="62439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6872" y="3427869"/>
            <a:ext cx="16047961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Розробити серверну частину вебзастосунку для керування проєктами із використанням Kanban-методології, яка забезпечує: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4852" y="7050088"/>
            <a:ext cx="3691001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безп</a:t>
            </a:r>
            <a:r>
              <a:rPr lang="en-US" sz="23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ечну автентифікацію користувачів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34346" y="7050088"/>
            <a:ext cx="3709654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керування проєктами та задачами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0225" y="7050088"/>
            <a:ext cx="3682621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формування аналітики щодо виконання проєктів та задач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79071" y="7050088"/>
            <a:ext cx="3787702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роботу з дедлайнами та календарем виконання завдань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17008" y="5485448"/>
            <a:ext cx="62439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76976" y="5485448"/>
            <a:ext cx="62439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08221" y="5485448"/>
            <a:ext cx="624395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68752" y="3039532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3135" y="1634690"/>
            <a:ext cx="6062578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Аналіз проблеми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3135" y="4565436"/>
            <a:ext cx="10646792" cy="2588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складність організації командної роботи  </a:t>
            </a:r>
          </a:p>
          <a:p>
            <a:pPr algn="l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труднощі контролю виконання завдань </a:t>
            </a:r>
          </a:p>
          <a:p>
            <a:pPr algn="l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ризик пропуску встановлених дедлайнів; </a:t>
            </a:r>
          </a:p>
          <a:p>
            <a:pPr algn="l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відсутність єдиного місця для зберігання інформації про проєкт;</a:t>
            </a:r>
          </a:p>
          <a:p>
            <a:pPr algn="l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необхідність захисту даних користувачів.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727656" y="3184525"/>
            <a:ext cx="5579372" cy="0"/>
          </a:xfrm>
          <a:prstGeom prst="line">
            <a:avLst/>
          </a:prstGeom>
          <a:ln cap="flat" w="19050">
            <a:solidFill>
              <a:srgbClr val="000000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727656" y="5143500"/>
            <a:ext cx="5579372" cy="0"/>
          </a:xfrm>
          <a:prstGeom prst="line">
            <a:avLst/>
          </a:prstGeom>
          <a:ln cap="flat" w="19050">
            <a:solidFill>
              <a:srgbClr val="000000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7656" y="7109619"/>
            <a:ext cx="5579372" cy="0"/>
          </a:xfrm>
          <a:prstGeom prst="line">
            <a:avLst/>
          </a:prstGeom>
          <a:ln cap="flat" w="19050">
            <a:solidFill>
              <a:srgbClr val="000000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268568" y="1733349"/>
            <a:ext cx="758389" cy="681003"/>
            <a:chOff x="0" y="0"/>
            <a:chExt cx="6223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2300" cy="558800"/>
            </a:xfrm>
            <a:custGeom>
              <a:avLst/>
              <a:gdLst/>
              <a:ahLst/>
              <a:cxnLst/>
              <a:rect r="r" b="b" t="t" l="l"/>
              <a:pathLst>
                <a:path h="558800" w="622300">
                  <a:moveTo>
                    <a:pt x="622300" y="139700"/>
                  </a:moveTo>
                  <a:cubicBezTo>
                    <a:pt x="622300" y="62495"/>
                    <a:pt x="559707" y="0"/>
                    <a:pt x="482742" y="0"/>
                  </a:cubicBezTo>
                  <a:lnTo>
                    <a:pt x="0" y="0"/>
                  </a:lnTo>
                  <a:lnTo>
                    <a:pt x="0" y="279400"/>
                  </a:lnTo>
                  <a:lnTo>
                    <a:pt x="139558" y="279400"/>
                  </a:lnTo>
                  <a:cubicBezTo>
                    <a:pt x="62431" y="279400"/>
                    <a:pt x="0" y="342057"/>
                    <a:pt x="0" y="419100"/>
                  </a:cubicBezTo>
                  <a:cubicBezTo>
                    <a:pt x="0" y="496305"/>
                    <a:pt x="62593" y="558800"/>
                    <a:pt x="139558" y="558800"/>
                  </a:cubicBezTo>
                  <a:lnTo>
                    <a:pt x="622137" y="558800"/>
                  </a:lnTo>
                  <a:lnTo>
                    <a:pt x="622137" y="279400"/>
                  </a:lnTo>
                  <a:lnTo>
                    <a:pt x="482580" y="279400"/>
                  </a:lnTo>
                  <a:cubicBezTo>
                    <a:pt x="559707" y="279400"/>
                    <a:pt x="622300" y="216743"/>
                    <a:pt x="622300" y="1397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-38100"/>
              <a:ext cx="3429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68568" y="7625914"/>
            <a:ext cx="758389" cy="727435"/>
            <a:chOff x="0" y="0"/>
            <a:chExt cx="622300" cy="596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2300" cy="596900"/>
            </a:xfrm>
            <a:custGeom>
              <a:avLst/>
              <a:gdLst/>
              <a:ahLst/>
              <a:cxnLst/>
              <a:rect r="r" b="b" t="t" l="l"/>
              <a:pathLst>
                <a:path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8900"/>
              <a:ext cx="622300" cy="38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68568" y="5619750"/>
            <a:ext cx="758389" cy="758389"/>
            <a:chOff x="0" y="0"/>
            <a:chExt cx="673100" cy="673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3100" cy="673100"/>
            </a:xfrm>
            <a:custGeom>
              <a:avLst/>
              <a:gdLst/>
              <a:ahLst/>
              <a:cxnLst/>
              <a:rect r="r" b="b" t="t" l="l"/>
              <a:pathLst>
                <a:path h="673100" w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68568" y="3660775"/>
            <a:ext cx="758389" cy="75838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80972" y="1837531"/>
            <a:ext cx="6062578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Постановка задачі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27656" y="3622675"/>
            <a:ext cx="5579372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spc="-47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роботу з календарем та дедлайнами;</a:t>
            </a:r>
          </a:p>
          <a:p>
            <a:pPr algn="l">
              <a:lnSpc>
                <a:spcPts val="3359"/>
              </a:lnSpc>
            </a:pPr>
            <a:r>
              <a:rPr lang="en-US" sz="2399" spc="-47">
                <a:solidFill>
                  <a:srgbClr val="2A2E30"/>
                </a:solidFill>
                <a:latin typeface="Proxima Nova"/>
                <a:ea typeface="Proxima Nova"/>
                <a:cs typeface="Proxima Nova"/>
                <a:sym typeface="Proxima Nova"/>
              </a:rPr>
              <a:t>формування аналітики виконання проєктів;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727656" y="1656556"/>
            <a:ext cx="5579372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-47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реєстрацію та авторизацію користувачів;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-47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керування проєктами, колонками та задачами;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27656" y="5614869"/>
            <a:ext cx="557937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-47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взаємодію з клієнтською частиною через REST API;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27656" y="7784209"/>
            <a:ext cx="55793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-47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збереження даних у MongoDB.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6751" y="5057557"/>
            <a:ext cx="711305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Необхідно розробити серверну частину вебзастосунку, яка забезпечує: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5717" y="7232134"/>
            <a:ext cx="8922274" cy="6456482"/>
          </a:xfrm>
          <a:custGeom>
            <a:avLst/>
            <a:gdLst/>
            <a:ahLst/>
            <a:cxnLst/>
            <a:rect r="r" b="b" t="t" l="l"/>
            <a:pathLst>
              <a:path h="6456482" w="8922274">
                <a:moveTo>
                  <a:pt x="0" y="0"/>
                </a:moveTo>
                <a:lnTo>
                  <a:pt x="8922274" y="0"/>
                </a:lnTo>
                <a:lnTo>
                  <a:pt x="8922274" y="6456482"/>
                </a:lnTo>
                <a:lnTo>
                  <a:pt x="0" y="6456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60938" y="-3307600"/>
            <a:ext cx="6294819" cy="6294819"/>
          </a:xfrm>
          <a:custGeom>
            <a:avLst/>
            <a:gdLst/>
            <a:ahLst/>
            <a:cxnLst/>
            <a:rect r="r" b="b" t="t" l="l"/>
            <a:pathLst>
              <a:path h="6294819" w="6294819">
                <a:moveTo>
                  <a:pt x="0" y="0"/>
                </a:moveTo>
                <a:lnTo>
                  <a:pt x="6294819" y="0"/>
                </a:lnTo>
                <a:lnTo>
                  <a:pt x="6294819" y="6294819"/>
                </a:lnTo>
                <a:lnTo>
                  <a:pt x="0" y="6294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68737" y="3494478"/>
            <a:ext cx="10836938" cy="4183538"/>
            <a:chOff x="0" y="0"/>
            <a:chExt cx="2854173" cy="1101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4173" cy="1101837"/>
            </a:xfrm>
            <a:custGeom>
              <a:avLst/>
              <a:gdLst/>
              <a:ahLst/>
              <a:cxnLst/>
              <a:rect r="r" b="b" t="t" l="l"/>
              <a:pathLst>
                <a:path h="1101837" w="2854173">
                  <a:moveTo>
                    <a:pt x="0" y="0"/>
                  </a:moveTo>
                  <a:lnTo>
                    <a:pt x="2854173" y="0"/>
                  </a:lnTo>
                  <a:lnTo>
                    <a:pt x="2854173" y="1101837"/>
                  </a:lnTo>
                  <a:lnTo>
                    <a:pt x="0" y="1101837"/>
                  </a:lnTo>
                  <a:close/>
                </a:path>
              </a:pathLst>
            </a:custGeom>
            <a:solidFill>
              <a:srgbClr val="00000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54173" cy="1139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009515" y="3262895"/>
            <a:ext cx="1432191" cy="1388221"/>
          </a:xfrm>
          <a:custGeom>
            <a:avLst/>
            <a:gdLst/>
            <a:ahLst/>
            <a:cxnLst/>
            <a:rect r="r" b="b" t="t" l="l"/>
            <a:pathLst>
              <a:path h="1388221" w="1432191">
                <a:moveTo>
                  <a:pt x="0" y="0"/>
                </a:moveTo>
                <a:lnTo>
                  <a:pt x="1432191" y="0"/>
                </a:lnTo>
                <a:lnTo>
                  <a:pt x="1432191" y="1388220"/>
                </a:lnTo>
                <a:lnTo>
                  <a:pt x="0" y="13882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05676" y="3494478"/>
            <a:ext cx="1502157" cy="1502157"/>
          </a:xfrm>
          <a:custGeom>
            <a:avLst/>
            <a:gdLst/>
            <a:ahLst/>
            <a:cxnLst/>
            <a:rect r="r" b="b" t="t" l="l"/>
            <a:pathLst>
              <a:path h="1502157" w="1502157">
                <a:moveTo>
                  <a:pt x="0" y="0"/>
                </a:moveTo>
                <a:lnTo>
                  <a:pt x="1502157" y="0"/>
                </a:lnTo>
                <a:lnTo>
                  <a:pt x="1502157" y="1502157"/>
                </a:lnTo>
                <a:lnTo>
                  <a:pt x="0" y="15021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87759" y="3494478"/>
            <a:ext cx="1388221" cy="1388221"/>
          </a:xfrm>
          <a:custGeom>
            <a:avLst/>
            <a:gdLst/>
            <a:ahLst/>
            <a:cxnLst/>
            <a:rect r="r" b="b" t="t" l="l"/>
            <a:pathLst>
              <a:path h="1388221" w="1388221">
                <a:moveTo>
                  <a:pt x="0" y="0"/>
                </a:moveTo>
                <a:lnTo>
                  <a:pt x="1388220" y="0"/>
                </a:lnTo>
                <a:lnTo>
                  <a:pt x="1388220" y="1388220"/>
                </a:lnTo>
                <a:lnTo>
                  <a:pt x="0" y="13882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05676" y="6407716"/>
            <a:ext cx="2641179" cy="1270300"/>
          </a:xfrm>
          <a:custGeom>
            <a:avLst/>
            <a:gdLst/>
            <a:ahLst/>
            <a:cxnLst/>
            <a:rect r="r" b="b" t="t" l="l"/>
            <a:pathLst>
              <a:path h="1270300" w="2641179">
                <a:moveTo>
                  <a:pt x="0" y="0"/>
                </a:moveTo>
                <a:lnTo>
                  <a:pt x="2641178" y="0"/>
                </a:lnTo>
                <a:lnTo>
                  <a:pt x="2641178" y="1270300"/>
                </a:lnTo>
                <a:lnTo>
                  <a:pt x="0" y="127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9179" r="0" b="-1917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46854" y="6407716"/>
            <a:ext cx="2781945" cy="1270300"/>
          </a:xfrm>
          <a:custGeom>
            <a:avLst/>
            <a:gdLst/>
            <a:ahLst/>
            <a:cxnLst/>
            <a:rect r="r" b="b" t="t" l="l"/>
            <a:pathLst>
              <a:path h="1270300" w="2781945">
                <a:moveTo>
                  <a:pt x="0" y="0"/>
                </a:moveTo>
                <a:lnTo>
                  <a:pt x="2781945" y="0"/>
                </a:lnTo>
                <a:lnTo>
                  <a:pt x="2781945" y="1270300"/>
                </a:lnTo>
                <a:lnTo>
                  <a:pt x="0" y="127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4936" r="0" b="-791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8737" y="1698705"/>
            <a:ext cx="1335687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Вибір технологій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9978" y="4257509"/>
            <a:ext cx="9384506" cy="246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Node.js — середовище виконання серверного застосунку;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NestJS — фреймворк для розробки бекенду;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TypeScript — мова програмування;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JWT + Passport — реалізація автентифікації та авторизації;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5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bcrypt — захист паролів шляхом хешування.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32056" y="3813023"/>
            <a:ext cx="10009273" cy="3492697"/>
          </a:xfrm>
          <a:custGeom>
            <a:avLst/>
            <a:gdLst/>
            <a:ahLst/>
            <a:cxnLst/>
            <a:rect r="r" b="b" t="t" l="l"/>
            <a:pathLst>
              <a:path h="3492697" w="10009273">
                <a:moveTo>
                  <a:pt x="0" y="0"/>
                </a:moveTo>
                <a:lnTo>
                  <a:pt x="10009274" y="0"/>
                </a:lnTo>
                <a:lnTo>
                  <a:pt x="10009274" y="3492697"/>
                </a:lnTo>
                <a:lnTo>
                  <a:pt x="0" y="3492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42139" y="666750"/>
            <a:ext cx="14203723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Архітектура</a:t>
            </a:r>
            <a:r>
              <a:rPr lang="en-US" b="true" sz="8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b="true" sz="8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серверної частини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755873"/>
            <a:ext cx="7378378" cy="410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Основні компоненти серверної частини: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модуль автентифікації користувачів;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модуль керування проєктами;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модуль керування задачами;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модуль календаря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модуль аналітики;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REST API для взаємодії клієнта із сервером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9842" y="1453819"/>
            <a:ext cx="7724158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Проєктування програмної</a:t>
            </a:r>
            <a:r>
              <a:rPr lang="en-US" b="true" sz="8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b="true" sz="8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системи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9842" y="5430647"/>
            <a:ext cx="14130784" cy="311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Під час проєктування серверної частини було:</a:t>
            </a:r>
          </a:p>
          <a:p>
            <a:pPr algn="l" marL="603854" indent="-301927" lvl="1">
              <a:lnSpc>
                <a:spcPts val="4195"/>
              </a:lnSpc>
              <a:buFont typeface="Arial"/>
              <a:buChar char="•"/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визначено структуру серверних модулів відповідно до функціональних вимог;</a:t>
            </a:r>
          </a:p>
          <a:p>
            <a:pPr algn="l" marL="603854" indent="-301927" lvl="1">
              <a:lnSpc>
                <a:spcPts val="4195"/>
              </a:lnSpc>
              <a:buFont typeface="Arial"/>
              <a:buChar char="•"/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спроєктовано REST API для взаємодії клієнтської та серверної частин;</a:t>
            </a:r>
          </a:p>
          <a:p>
            <a:pPr algn="l" marL="603854" indent="-301927" lvl="1">
              <a:lnSpc>
                <a:spcPts val="4195"/>
              </a:lnSpc>
              <a:buFont typeface="Arial"/>
              <a:buChar char="•"/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передбачено механізм автентифікації та авторизації користувачів за допомогою JWT;</a:t>
            </a:r>
          </a:p>
          <a:p>
            <a:pPr algn="l" marL="603854" indent="-301927" lvl="1">
              <a:lnSpc>
                <a:spcPts val="4195"/>
              </a:lnSpc>
              <a:buFont typeface="Arial"/>
              <a:buChar char="•"/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визначено логіку роботи з проєктами, задачами, календарем та аналітикою</a:t>
            </a:r>
          </a:p>
          <a:p>
            <a:pPr algn="l" marL="603854" indent="-301927" lvl="1">
              <a:lnSpc>
                <a:spcPts val="4195"/>
              </a:lnSpc>
              <a:buFont typeface="Arial"/>
              <a:buChar char="•"/>
            </a:pPr>
            <a:r>
              <a:rPr lang="en-US" sz="2796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забезпечено можливість подальшого розширення функціоналу без зміни архітектури.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87405" y="3422727"/>
            <a:ext cx="4224748" cy="5563485"/>
            <a:chOff x="0" y="0"/>
            <a:chExt cx="588081" cy="774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081" cy="774433"/>
            </a:xfrm>
            <a:custGeom>
              <a:avLst/>
              <a:gdLst/>
              <a:ahLst/>
              <a:cxnLst/>
              <a:rect r="r" b="b" t="t" l="l"/>
              <a:pathLst>
                <a:path h="774433" w="588081">
                  <a:moveTo>
                    <a:pt x="0" y="0"/>
                  </a:moveTo>
                  <a:lnTo>
                    <a:pt x="588081" y="0"/>
                  </a:lnTo>
                  <a:lnTo>
                    <a:pt x="588081" y="774433"/>
                  </a:lnTo>
                  <a:lnTo>
                    <a:pt x="0" y="774433"/>
                  </a:lnTo>
                  <a:close/>
                </a:path>
              </a:pathLst>
            </a:custGeom>
            <a:blipFill>
              <a:blip r:embed="rId2"/>
              <a:stretch>
                <a:fillRect l="0" t="-1411" r="0" b="-141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3422727"/>
            <a:ext cx="3872355" cy="5563485"/>
          </a:xfrm>
          <a:custGeom>
            <a:avLst/>
            <a:gdLst/>
            <a:ahLst/>
            <a:cxnLst/>
            <a:rect r="r" b="b" t="t" l="l"/>
            <a:pathLst>
              <a:path h="5563485" w="3872355">
                <a:moveTo>
                  <a:pt x="0" y="0"/>
                </a:moveTo>
                <a:lnTo>
                  <a:pt x="3872355" y="0"/>
                </a:lnTo>
                <a:lnTo>
                  <a:pt x="3872355" y="5563485"/>
                </a:lnTo>
                <a:lnTo>
                  <a:pt x="0" y="5563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47" r="0" b="-274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66750"/>
            <a:ext cx="12860660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Реалізація автентифікації користувачів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97978" y="4105073"/>
            <a:ext cx="6361322" cy="345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Основні можливості: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реєстрація нового користувача;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автентифікація за електронною поштою та паролем;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використання JWT для захисту API;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хешування паролів за допомогою bcrypt.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59623"/>
            <a:ext cx="5083672" cy="5543697"/>
            <a:chOff x="0" y="0"/>
            <a:chExt cx="710169" cy="774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0169" cy="774433"/>
            </a:xfrm>
            <a:custGeom>
              <a:avLst/>
              <a:gdLst/>
              <a:ahLst/>
              <a:cxnLst/>
              <a:rect r="r" b="b" t="t" l="l"/>
              <a:pathLst>
                <a:path h="774433" w="710169">
                  <a:moveTo>
                    <a:pt x="0" y="0"/>
                  </a:moveTo>
                  <a:lnTo>
                    <a:pt x="710169" y="0"/>
                  </a:lnTo>
                  <a:lnTo>
                    <a:pt x="710169" y="774433"/>
                  </a:lnTo>
                  <a:lnTo>
                    <a:pt x="0" y="774433"/>
                  </a:lnTo>
                  <a:close/>
                </a:path>
              </a:pathLst>
            </a:custGeom>
            <a:blipFill>
              <a:blip r:embed="rId2"/>
              <a:stretch>
                <a:fillRect l="-2205" t="0" r="-220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62036" y="3297073"/>
            <a:ext cx="5083672" cy="5506247"/>
            <a:chOff x="0" y="0"/>
            <a:chExt cx="714999" cy="7744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4999" cy="774433"/>
            </a:xfrm>
            <a:custGeom>
              <a:avLst/>
              <a:gdLst/>
              <a:ahLst/>
              <a:cxnLst/>
              <a:rect r="r" b="b" t="t" l="l"/>
              <a:pathLst>
                <a:path h="774433" w="714999">
                  <a:moveTo>
                    <a:pt x="0" y="0"/>
                  </a:moveTo>
                  <a:lnTo>
                    <a:pt x="714999" y="0"/>
                  </a:lnTo>
                  <a:lnTo>
                    <a:pt x="714999" y="774433"/>
                  </a:lnTo>
                  <a:lnTo>
                    <a:pt x="0" y="774433"/>
                  </a:lnTo>
                  <a:close/>
                </a:path>
              </a:pathLst>
            </a:custGeom>
            <a:blipFill>
              <a:blip r:embed="rId3"/>
              <a:stretch>
                <a:fillRect l="0" t="-3272" r="-4789" b="-175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4504" y="3297073"/>
            <a:ext cx="5083672" cy="4760379"/>
            <a:chOff x="0" y="0"/>
            <a:chExt cx="786311" cy="7363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6311" cy="736306"/>
            </a:xfrm>
            <a:custGeom>
              <a:avLst/>
              <a:gdLst/>
              <a:ahLst/>
              <a:cxnLst/>
              <a:rect r="r" b="b" t="t" l="l"/>
              <a:pathLst>
                <a:path h="736306" w="786311">
                  <a:moveTo>
                    <a:pt x="0" y="0"/>
                  </a:moveTo>
                  <a:lnTo>
                    <a:pt x="786311" y="0"/>
                  </a:lnTo>
                  <a:lnTo>
                    <a:pt x="786311" y="736306"/>
                  </a:lnTo>
                  <a:lnTo>
                    <a:pt x="0" y="736306"/>
                  </a:lnTo>
                  <a:close/>
                </a:path>
              </a:pathLst>
            </a:custGeom>
            <a:blipFill>
              <a:blip r:embed="rId4"/>
              <a:stretch>
                <a:fillRect l="-351" t="-2531" r="-7209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666750"/>
            <a:ext cx="13161253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Реалізація функціональних можливостей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46059" y="2924343"/>
            <a:ext cx="3795882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Створення проєкту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95798" y="2924343"/>
            <a:ext cx="3795882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Створення задачі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1918" y="2849647"/>
            <a:ext cx="3795882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Kanban-дошка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87366" y="2295767"/>
            <a:ext cx="5528212" cy="3931941"/>
          </a:xfrm>
          <a:custGeom>
            <a:avLst/>
            <a:gdLst/>
            <a:ahLst/>
            <a:cxnLst/>
            <a:rect r="r" b="b" t="t" l="l"/>
            <a:pathLst>
              <a:path h="3931941" w="5528212">
                <a:moveTo>
                  <a:pt x="0" y="0"/>
                </a:moveTo>
                <a:lnTo>
                  <a:pt x="5528212" y="0"/>
                </a:lnTo>
                <a:lnTo>
                  <a:pt x="5528212" y="3931941"/>
                </a:lnTo>
                <a:lnTo>
                  <a:pt x="0" y="393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9052" y="6421351"/>
            <a:ext cx="6454845" cy="3501754"/>
          </a:xfrm>
          <a:custGeom>
            <a:avLst/>
            <a:gdLst/>
            <a:ahLst/>
            <a:cxnLst/>
            <a:rect r="r" b="b" t="t" l="l"/>
            <a:pathLst>
              <a:path h="3501754" w="6454845">
                <a:moveTo>
                  <a:pt x="0" y="0"/>
                </a:moveTo>
                <a:lnTo>
                  <a:pt x="6454845" y="0"/>
                </a:lnTo>
                <a:lnTo>
                  <a:pt x="6454845" y="3501754"/>
                </a:lnTo>
                <a:lnTo>
                  <a:pt x="0" y="3501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2947" y="6421351"/>
            <a:ext cx="7086379" cy="1947498"/>
          </a:xfrm>
          <a:custGeom>
            <a:avLst/>
            <a:gdLst/>
            <a:ahLst/>
            <a:cxnLst/>
            <a:rect r="r" b="b" t="t" l="l"/>
            <a:pathLst>
              <a:path h="1947498" w="7086379">
                <a:moveTo>
                  <a:pt x="0" y="0"/>
                </a:moveTo>
                <a:lnTo>
                  <a:pt x="7086379" y="0"/>
                </a:lnTo>
                <a:lnTo>
                  <a:pt x="7086379" y="1947498"/>
                </a:lnTo>
                <a:lnTo>
                  <a:pt x="0" y="1947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30895" y="2349012"/>
            <a:ext cx="4556471" cy="3878696"/>
          </a:xfrm>
          <a:custGeom>
            <a:avLst/>
            <a:gdLst/>
            <a:ahLst/>
            <a:cxnLst/>
            <a:rect r="r" b="b" t="t" l="l"/>
            <a:pathLst>
              <a:path h="3878696" w="4556471">
                <a:moveTo>
                  <a:pt x="0" y="0"/>
                </a:moveTo>
                <a:lnTo>
                  <a:pt x="4556471" y="0"/>
                </a:lnTo>
                <a:lnTo>
                  <a:pt x="4556471" y="3878696"/>
                </a:lnTo>
                <a:lnTo>
                  <a:pt x="0" y="3878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66750"/>
            <a:ext cx="13161253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Додаткові можливості системи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20283"/>
            <a:ext cx="5045050" cy="271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Додатковий функціонал: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календар із дедлайнами задач;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аналітика виконання проєктів;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перегляд та редагування профілю;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призначення виконавців задач;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перегляд списку користувачів.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66750"/>
            <a:ext cx="13161253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Тестування програмної системи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75414" y="3625895"/>
            <a:ext cx="14137171" cy="563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Під час тестування було перевірено:</a:t>
            </a:r>
          </a:p>
          <a:p>
            <a:pPr algn="l" marL="593856" indent="-296928" lvl="1">
              <a:lnSpc>
                <a:spcPts val="4125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реєстрацію та авторизацію користувачів;</a:t>
            </a:r>
          </a:p>
          <a:p>
            <a:pPr algn="l" marL="593856" indent="-296928" lvl="1">
              <a:lnSpc>
                <a:spcPts val="4125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створення, редагування та видалення проєктів;</a:t>
            </a:r>
          </a:p>
          <a:p>
            <a:pPr algn="l" marL="593856" indent="-296928" lvl="1">
              <a:lnSpc>
                <a:spcPts val="4125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створення, редагування та переміщення задач між колонками;</a:t>
            </a:r>
          </a:p>
          <a:p>
            <a:pPr algn="l" marL="593856" indent="-296928" lvl="1">
              <a:lnSpc>
                <a:spcPts val="4125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роботу календаря та обробку дедлайнів;</a:t>
            </a:r>
          </a:p>
          <a:p>
            <a:pPr algn="l" marL="593856" indent="-296928" lvl="1">
              <a:lnSpc>
                <a:spcPts val="4125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формування аналітичних даних;</a:t>
            </a:r>
          </a:p>
          <a:p>
            <a:pPr algn="l" marL="593856" indent="-296928" lvl="1">
              <a:lnSpc>
                <a:spcPts val="4125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керування профілем користувача та призначення виконавців.</a:t>
            </a:r>
          </a:p>
          <a:p>
            <a:pPr algn="l">
              <a:lnSpc>
                <a:spcPts val="4125"/>
              </a:lnSpc>
            </a:pPr>
          </a:p>
          <a:p>
            <a:pPr algn="l">
              <a:lnSpc>
                <a:spcPts val="4125"/>
              </a:lnSpc>
            </a:pPr>
          </a:p>
          <a:p>
            <a:pPr algn="l">
              <a:lnSpc>
                <a:spcPts val="4125"/>
              </a:lnSpc>
            </a:pPr>
            <a:r>
              <a:rPr lang="en-US" b="true" sz="275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Результат тестування:</a:t>
            </a:r>
            <a:r>
              <a:rPr lang="en-US" sz="275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усі функціональні можливості працюють коректно, критичних помилок під час тестування не виявлено.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1575"/>
            <a:ext cx="13161253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Висновки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94132" y="2778537"/>
            <a:ext cx="14499736" cy="584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У результаті виконання роботи було:</a:t>
            </a:r>
          </a:p>
          <a:p>
            <a:pPr algn="l">
              <a:lnSpc>
                <a:spcPts val="4200"/>
              </a:lnSpc>
            </a:pPr>
          </a:p>
          <a:p>
            <a:pPr algn="l" marL="604578" indent="-302289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розроблено серверну частину вебзастосунку для керування проєктами за методологією Kanban;</a:t>
            </a:r>
          </a:p>
          <a:p>
            <a:pPr algn="l" marL="604578" indent="-302289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реалізовано безпечну автентифікацію та авторизацію користувачів із використанням JWT;</a:t>
            </a:r>
          </a:p>
          <a:p>
            <a:pPr algn="l" marL="604578" indent="-302289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реалізовано функціонал керування проєктами, задачами та призначення виконавців;</a:t>
            </a:r>
          </a:p>
          <a:p>
            <a:pPr algn="l" marL="604578" indent="-302289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забезпечено підтримку календаря з дедлайнами та модуля аналітики;</a:t>
            </a:r>
          </a:p>
          <a:p>
            <a:pPr algn="l" marL="604578" indent="-302289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проведено тестування, яке підтвердило коректну роботу реалізованого функціоналу.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DAHO6tYl1pw</dc:identifier>
  <dcterms:modified xsi:type="dcterms:W3CDTF">2011-08-01T06:04:30Z</dcterms:modified>
  <cp:revision>1</cp:revision>
  <dc:title>Black and White Modern Thesis Defense Presentation</dc:title>
</cp:coreProperties>
</file>